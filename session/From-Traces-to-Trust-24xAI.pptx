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hook: "Raise your hand if you've deployed an AI agent to production. Now keep it raised if you can tell me exactly why it called a specific tool last Thursday at 3 PM. That gap — between deploying and understanding — is what we're closing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Cognizant story: 100+ apps migrating AppDynamics to App Insights. First question from governance: "Can we see what the agent accessed and why?" That question drove everything we cover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pyramid is the conceptual backbone. We start at the bottom (instrumentation) and work up. Each layer depends on the one below. Today we focus on layers 1-4, with a preview of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building blocks. invoke_agent is the root, chat captures LLM calls, execute_tool captures tool use. Together they form a complete trace of agent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visual. Walk through line by line: parent agent span, planning LLM call, three tool executions, synthesis LLM call. All share the same trace_id. "Every tool call, every model inference, every decision — captured in a standard format."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1: ~3 min. Show console output, point out attributes. Demo 2: ~5 min. Hero demo — walk through span hierarchy. "The trace ID ties everything together — one request, one trace."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monitoring to governance. Standard OTel attributes plus custom governance namespace. This is where agent traces become audit-ready.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Demo 3 here. Run 03_appinsights.py. Highlight: data.access.audit event, content.safety.check event, action.audit event with HITL approval. If App Insights configured, switch to Azure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"One line in _meta — that's all it takes to stitch together a distributed trace across MCP boundaries." Show Demo 4: CLIENT span → SERVER span with same trace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for MCP attributes. The compatibility with GenAI execute_tool is the key point — no new span types needed, just protocol-specific attributes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credibility slide. These are real customer engagements. Don't deep-dive on any one — give the highlights and the common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hits. "These are lessons learned the hard way — from actual production incidents at customer sites."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KQL queries from the demo repo. If App Insights is configured, you can paste these into Log Analytics and get instant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Actionable takeaways. "You can do step 1 in 10 minutes. Steps 1-3 in an afternoon. Steps 4-5 by end of week."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"Traces are the receipts of trust. When your governance team can query exactly what your agent did, when it did it, and why — that's when AI moves from prototype to production." Open for Q&amp;A. Refer to Q&amp;A prep in talk-track.md.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61288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2104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96696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1560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61288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2104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41832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96696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1288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2104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6968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51560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6424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61288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2104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6968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96696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51560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06424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61288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1520" y="1828800"/>
            <a:ext cx="2286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21031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From Traces to Trust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731520" y="3291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Observability with OpenTelemetry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31520" y="4297680"/>
            <a:ext cx="73152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Naveen Ganapathi  |  Solution Engineer, Microsoft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152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24xAI APAC  •  April 21, 2026  •  60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194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Agent Black Box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1682496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4592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45920"/>
            <a:ext cx="4846320" cy="41148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→ Response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execution paths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Predefined data access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→ Stack trace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Predictable latency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Well-understood observability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36792" y="1682496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64592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645920"/>
            <a:ext cx="4846320" cy="41148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→ Plan → Tools → Reason → Response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Non-deterministic execution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LLM-decided tool calls at runtime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tool → Wrong answer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latency (thinking time)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Opaque by default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A8A8A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00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93776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Thesis: Standardized traces are the bridge from "it works" to "we trust it"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3779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353312" cy="292608"/>
          </a:xfrm>
          <a:prstGeom prst="roundRect">
            <a:avLst>
              <a:gd name="adj" fmla="val 12500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Trust Pyramid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is built bottom-up. You can’t have governance without debugging,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you can’t debug without traces.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5303520"/>
            <a:ext cx="9144000" cy="530352"/>
          </a:xfrm>
          <a:prstGeom prst="roundRect">
            <a:avLst>
              <a:gd name="adj" fmla="val 10345"/>
            </a:avLst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530352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530352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Code-level OTel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4709160"/>
            <a:ext cx="7680960" cy="530352"/>
          </a:xfrm>
          <a:prstGeom prst="roundRect">
            <a:avLst>
              <a:gd name="adj" fmla="val 10345"/>
            </a:avLst>
          </a:prstGeom>
          <a:solidFill>
            <a:srgbClr val="2B88D8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47091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96712" y="47091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Spans, attributes,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4114800"/>
            <a:ext cx="6217920" cy="530352"/>
          </a:xfrm>
          <a:prstGeom prst="roundRect">
            <a:avLst>
              <a:gd name="adj" fmla="val 10345"/>
            </a:avLst>
          </a:prstGeom>
          <a:solidFill>
            <a:srgbClr val="00B7C3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41148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9864" y="41148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alerts, SLOs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52044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07C10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5204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43016" y="35204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FFB900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9260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16168" y="29260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trails, compliance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2331720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8661C5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3317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23317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sign-off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2560320"/>
            <a:ext cx="731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0789920" y="20116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upward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50387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3767328" cy="292608"/>
          </a:xfrm>
          <a:prstGeom prst="roundRect">
            <a:avLst>
              <a:gd name="adj" fmla="val 12500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 GENAI SEMANTIC CONVENTIONS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Span Types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1591056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544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54480"/>
            <a:ext cx="3154680" cy="411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078D4">
              <a:alpha val="15000"/>
            </a:srgbClr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invoke_agent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Invocation (Root Span)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gen_ai.agent.name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gen_ai.agent.id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gen_ai.agent.version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gen_ai.provider.name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total token usage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SpanKind: CLIENT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16552" y="1591056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5544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1554480"/>
            <a:ext cx="3154680" cy="41148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00B7C3">
              <a:alpha val="15000"/>
            </a:srgbClr>
          </a:solidFill>
          <a:ln w="1524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chat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Inference 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6060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gen_ai.request.model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gen_ai.response.model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gen_ai.usage.input_tokens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gen_ai.usage.output_tokens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per invocation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SpanKind: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74152" y="1591056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15544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554480"/>
            <a:ext cx="3154680" cy="41148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1691640"/>
            <a:ext cx="502920" cy="502920"/>
          </a:xfrm>
          <a:prstGeom prst="ellipse">
            <a:avLst/>
          </a:prstGeom>
          <a:solidFill>
            <a:srgbClr val="107C10">
              <a:alpha val="15000"/>
            </a:srgbClr>
          </a:solidFill>
          <a:ln w="15240">
            <a:solidFill>
              <a:srgbClr val="107C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696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execute_tool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Execution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26060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gen_ai.tool.name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gen_ai.tool.call.id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gen_ai.tool.call.arguments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gen_ai.tool.call.result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content capture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SpanKind: INTERNAL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2984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 Hierarchy — The Rosetta Stone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trace captures the full agent decision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4114800"/>
          </a:xfrm>
          <a:prstGeom prst="roundRect">
            <a:avLst>
              <a:gd name="adj" fmla="val 2667"/>
            </a:avLst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37160" cy="137160"/>
          </a:xfrm>
          <a:prstGeom prst="ellipse">
            <a:avLst/>
          </a:prstGeom>
          <a:solidFill>
            <a:srgbClr val="D13438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481328"/>
            <a:ext cx="137160" cy="137160"/>
          </a:xfrm>
          <a:prstGeom prst="ellipse">
            <a:avLst/>
          </a:prstGeom>
          <a:solidFill>
            <a:srgbClr val="FFB900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481328"/>
            <a:ext cx="137160" cy="137160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Console — Trace 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└── invoke_agent CustomerSuccessAgent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chat gpt-4o-mini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— 120 in / 85 out 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971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execute_tool lookup_customer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args + result captured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execute_tool get_purchase_history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args + result captured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execute_tool get_weather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977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args + result captured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480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└── chat gpt-4o-mini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 — 350 in / 280 out tokens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76072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76072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Same Trace ID ties everything together — one request, one trace, full decision chain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875581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353312" cy="292608"/>
          </a:xfrm>
          <a:prstGeom prst="roundRect">
            <a:avLst>
              <a:gd name="adj" fmla="val 12500"/>
            </a:avLst>
          </a:prstGeom>
          <a:solidFill>
            <a:srgbClr val="D13438">
              <a:alpha val="15000"/>
            </a:srgbClr>
          </a:solidFill>
          <a:ln w="10160">
            <a:solidFill>
              <a:srgbClr val="D13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Time: Basic Tracing + Agent Workflow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" y="1682496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459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45920"/>
            <a:ext cx="4846320" cy="41148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Demo 1: Basic Tracing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01_basic_tracing.py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Console span output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gen_ai.operation.name: chat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 usage attributes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Manual instrumentation — teaches OTel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atomic unit — a single model call"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36792" y="1682496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6459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45920"/>
            <a:ext cx="4846320" cy="4114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Demo 2: Agent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02_agent_workflow.py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6517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Full span hierarchy in console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invoke_agent → chat → tools → chat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Tool arguments + results captured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Opt-in content capture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"Now let’s compose them into an agent"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4864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  python demo/01_basic_tracing.py        $  python demo/02_agent_workflow.py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688178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FB900">
              <a:alpha val="15000"/>
            </a:srgbClr>
          </a:solidFill>
          <a:ln w="10160">
            <a:solidFill>
              <a:srgbClr val="FF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Governance Gap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"Your CISO doesn’t read console logs. Your compliance team needs queryable audit trails."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" y="195681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9202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93852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920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triggered the agent?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governance.user.id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73405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69748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71576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00B7C3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697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data did it access?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governance.data.classification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51129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47472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49300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107C10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actions did it take?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governance.action.type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8853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25196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27024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FFB9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251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73736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PII handled correctly?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governance.pii.handling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06577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502920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04748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8661C5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73736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it cost?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61C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governance.cost.estimated_usd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 gives you the structure. You add the governance semantics your org needs.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500774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Attributes in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4754880"/>
          </a:xfrm>
          <a:prstGeom prst="roundRect">
            <a:avLst>
              <a:gd name="adj" fmla="val 2308"/>
            </a:avLst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115568"/>
            <a:ext cx="137160" cy="137160"/>
          </a:xfrm>
          <a:prstGeom prst="ellipse">
            <a:avLst/>
          </a:prstGeom>
          <a:solidFill>
            <a:srgbClr val="D13438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1115568"/>
            <a:ext cx="137160" cy="137160"/>
          </a:xfrm>
          <a:prstGeom prst="ellipse">
            <a:avLst/>
          </a:prstGeom>
          <a:solidFill>
            <a:srgbClr val="FFB900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115568"/>
            <a:ext cx="137160" cy="137160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03_appinsights.py — GovernedCSAgent span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Standard OTel GenAI attributes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74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"gen_ai.operation.name": "invoke_agent"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94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"gen_ai.agent.name": "GovernedCSAgent"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Custom governance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"governance.user.id": "navg@microsoft.com"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"governance.data.classification": "confidential"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"governance.compliance.tags": ["SOC2", "HIPAA"]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"governance.action.requires_approval": 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434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"governance.action.approved_by": "navg@microsoft.com"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754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"governance.pii.handling": "redacted"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"governance.cost.estimated_usd": 0.0045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94360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D13438">
              <a:alpha val="10000"/>
            </a:srgbClr>
          </a:solidFill>
          <a:ln w="15240">
            <a:solidFill>
              <a:srgbClr val="D134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LIVE DEMO 3: App Insights + Governance Audit Trail  —  03_appinsights.py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3371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682496" cy="292608"/>
          </a:xfrm>
          <a:prstGeom prst="roundRect">
            <a:avLst>
              <a:gd name="adj" fmla="val 12500"/>
            </a:avLst>
          </a:prstGeom>
          <a:solidFill>
            <a:srgbClr val="8661C5">
              <a:alpha val="15000"/>
            </a:srgbClr>
          </a:solidFill>
          <a:ln w="10160">
            <a:solidFill>
              <a:srgbClr val="866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PROTOCOL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Tracing: The Cross-Process Bridge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"MCP is the USB for AI agents — but without trace propagation, each call is a black box."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078D4">
              <a:alpha val="12000"/>
            </a:srgbClr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invoke_agent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8661C5">
              <a:alpha val="12000"/>
            </a:srgbClr>
          </a:solidFill>
          <a:ln w="15240">
            <a:solidFill>
              <a:srgbClr val="866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Client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61C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CLIENT span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8A8A8A">
              <a:alpha val="12000"/>
            </a:srgbClr>
          </a:solidFill>
          <a:ln w="15240">
            <a:solidFill>
              <a:srgbClr val="8A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traceparent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8661C5">
              <a:alpha val="12000"/>
            </a:srgbClr>
          </a:solidFill>
          <a:ln w="15240">
            <a:solidFill>
              <a:srgbClr val="866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61C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SERVER span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24128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07C10">
              <a:alpha val="12000"/>
            </a:srgbClr>
          </a:solidFill>
          <a:ln w="15240">
            <a:solidFill>
              <a:srgbClr val="107C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execute_tool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0976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371600" y="3291840"/>
            <a:ext cx="94183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3832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363931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"method": "tools/call",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389534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"params": {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415137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"name": "get_weather",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45920" y="44074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"_meta": {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46634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"traceparent": "00-4bf92f...-00f067...-01"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45920" y="49194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45920" y="51755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44805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B900">
              <a:alpha val="15000"/>
            </a:srgbClr>
          </a:solidFill>
          <a:ln w="10160">
            <a:solidFill>
              <a:srgbClr val="FFB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 The magic line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566928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D13438">
              <a:alpha val="10000"/>
            </a:srgbClr>
          </a:solidFill>
          <a:ln w="15240">
            <a:solidFill>
              <a:srgbClr val="D134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LIVE DEMO 4: MCP Context Propagation  —  04_mcp_tracing.py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125968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2999232" cy="292608"/>
          </a:xfrm>
          <a:prstGeom prst="roundRect">
            <a:avLst>
              <a:gd name="adj" fmla="val 12500"/>
            </a:avLst>
          </a:prstGeom>
          <a:solidFill>
            <a:srgbClr val="8661C5">
              <a:alpha val="15000"/>
            </a:srgbClr>
          </a:solidFill>
          <a:ln w="10160">
            <a:solidFill>
              <a:srgbClr val="866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SEMANTIC CONVENTIONS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Span Attributes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297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3D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3D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3D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mcp.method.name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tools/call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MCP operation type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mcp.protocol.version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2025-06-18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 compatibility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mcp.session.id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sess_demo_001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 correlation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jsonrpc.request.id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per call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 tracking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gen_ai.tool.name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get_weather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identification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server.address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mcp-server.corp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47548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8661C5">
              <a:alpha val="10000"/>
            </a:srgbClr>
          </a:solidFill>
          <a:ln w="10160">
            <a:solidFill>
              <a:srgbClr val="8661C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7548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tool calls are compatible with GenAI execute_tool spans. </a:t>
            </a:r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trace stitches agent reasoning across process boundaries — same trace ID on CLIENT span (agent) and SERVER span (MCP server).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938565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2121408" cy="292608"/>
          </a:xfrm>
          <a:prstGeom prst="roundRect">
            <a:avLst>
              <a:gd name="adj" fmla="val 12500"/>
            </a:avLst>
          </a:prstGeom>
          <a:solidFill>
            <a:srgbClr val="107C10">
              <a:alpha val="15000"/>
            </a:srgbClr>
          </a:solidFill>
          <a:ln w="10160">
            <a:solidFill>
              <a:srgbClr val="107C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EXPERIENCE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Patterns from the Field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" y="1591056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544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54480"/>
            <a:ext cx="3154680" cy="411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 apps on AKS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AppDynamics → App Insights migration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LangChain OTel instrumentation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Sampling at 10% in production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"100% trace capture kills perf at scale"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6552" y="1591056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5544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554480"/>
            <a:ext cx="3154680" cy="41148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Healthcare, Multi-tenant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4688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Semantic Kernel agents + isolation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Per-tenant ID in every trace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HIPAA audit of every data access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"Compliance = governance in traces"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1591056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0" y="15544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554480"/>
            <a:ext cx="3154680" cy="41148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Infosys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24688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150+ tools, multi-agent orchestration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 cost attribution across BUs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Custom orchestrator vs Copilot Studio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"Cost visibility drives adoption"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01B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1206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thread: Every enterprise asked the same question — "Can we see what the agent did and why?"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751162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D13438">
              <a:alpha val="15000"/>
            </a:srgbClr>
          </a:solidFill>
          <a:ln w="10160">
            <a:solidFill>
              <a:srgbClr val="D13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NOT to Do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159105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5448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7276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D1343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5544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Everything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in traces, storage explosion, compliance violations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245973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42316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44144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F7630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4231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2423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Trace 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4231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spans across services — no parent-child links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32841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29184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31012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FFB9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91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Sampling Strategy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32918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capture in production kills performance and budget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419709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16052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17880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8661C5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1605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4592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Custom-Only Attributes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41605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standard GenAI conventions first, extend with governance namespace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" y="506577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04748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003D6B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029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45920" y="5029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Traces Without Dashboards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0" y="5029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without visibility — build KQL dashboards from day 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563758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KQL Dashboard Queries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 → Log Analytics → Real-time monitoring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solidFill>
            <a:srgbClr val="0078D4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where name startswith "invoke_agent"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summarize calls=count(),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avg_duration=avg(duration)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by agent_name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solidFill>
            <a:srgbClr val="00B7C3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8288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where customDimensions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.gen_ai_operation_name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== "execute_tool"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summarize p95=percentile(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duration, 95) by tool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86200"/>
            <a:ext cx="5303520" cy="365760"/>
          </a:xfrm>
          <a:prstGeom prst="rect">
            <a:avLst/>
          </a:prstGeom>
          <a:solidFill>
            <a:srgbClr val="107C1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Consumption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summarize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total_in=sum(input_tokens),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total_out=sum(output_tokens)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by model, bin(timestamp, 1h)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solidFill>
            <a:srgbClr val="FFB90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Audit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343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where customDimensions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has "governance"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project timestamp, user,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action_type, approved_by,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data_classification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Full queries: demo/05_dashboard_queries.kql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376355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"/>
            <a:ext cx="1682496" cy="292608"/>
          </a:xfrm>
          <a:prstGeom prst="roundRect">
            <a:avLst>
              <a:gd name="adj" fmla="val 12500"/>
            </a:avLst>
          </a:prstGeom>
          <a:solidFill>
            <a:srgbClr val="107C10">
              <a:alpha val="15000"/>
            </a:srgbClr>
          </a:solidFill>
          <a:ln w="10160">
            <a:solidFill>
              <a:srgbClr val="107C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ITEMS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Monday Checklist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opentelemetry-instrumentation-openai-v2 to your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459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pip install opentelemetry-instrumentation-openai-v2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azure-monitor-opentelemetry for App Insights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560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pip install azure-monitor-opentelemetry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GenAI semantic conventions, not custom spans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4747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gen_ai.operation.name, gen_ai.agent.name, 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FFB90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governance.* attributes for audit trails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3891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389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governance.user.id, governance.data.classification, 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8661C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54480" y="5212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5448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KQL queries for real-time monitoring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53035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See demo/05_dashboard_queries.kql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65276" y="2148840"/>
            <a:ext cx="18288" cy="3063240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39" name="Text 3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8992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14984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14984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992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86968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14984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78992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1371600"/>
            <a:ext cx="2286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"Traces are the receipts of trust."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your governance team can query exactly what your agent did,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it did it, and why — that’s when AI moves from prototype to production.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73152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Demo Code: github.com/navg/traces-to-trust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OTel GenAI SemConv: opentelemetry.io/docs/specs/semconv/gen-ai/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OTel MCP SemConv: opentelemetry.io/docs/specs/semconv/gen-ai/mcp/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Foundry Tracing: learn.microsoft.com/azure/ai-foundry/concepts/trace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Naveen Ganapathi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Engineer, Microsoft  |  navg@microsoft.com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•  Q&amp;A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Traces to Trust: Agentic Observability with OpenTelemetry</dc:title>
  <dc:subject>24xAI APAC — April 21, 2026</dc:subject>
  <dc:creator>Naveen Ganapathi</dc:creator>
  <cp:lastModifiedBy>Naveen Ganapathi</cp:lastModifiedBy>
  <cp:revision>1</cp:revision>
  <dcterms:created xsi:type="dcterms:W3CDTF">2026-04-14T08:11:17Z</dcterms:created>
  <dcterms:modified xsi:type="dcterms:W3CDTF">2026-04-14T08:11:17Z</dcterms:modified>
</cp:coreProperties>
</file>